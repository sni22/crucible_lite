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cgil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640080"/>
            <a:ext cx="2743200" cy="6426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481328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4E545E"/>
                </a:solidFill>
                <a:latin typeface="Segoe UI"/>
              </a:rPr>
              <a:t>Department of Mechanical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E545E"/>
                </a:solidFill>
                <a:latin typeface="Segoe UI"/>
              </a:rPr>
              <a:t>MECH 609 — Masters Seminar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943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1B1B1F"/>
                </a:solidFill>
                <a:latin typeface="Georgia"/>
              </a:rPr>
              <a:t>Comparing Compliant Fin-Ray Fingers with Rigid Parallel-Jaw Grippers for Cloth Grasping under Depth and Tilt Variation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541264" y="4114800"/>
            <a:ext cx="1097280" cy="2794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1B1B1F"/>
                </a:solidFill>
                <a:latin typeface="Georgia"/>
              </a:rPr>
              <a:t>Shiyao 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4E545E"/>
                </a:solidFill>
                <a:latin typeface="Georgia"/>
              </a:rPr>
              <a:t>M.Sc. Thesis · Supervisor: Prof. Audrey Sedal
August 12, 2026</a:t>
            </a:r>
          </a:p>
        </p:txBody>
      </p:sp>
      <p:pic>
        <p:nvPicPr>
          <p:cNvPr id="9" name="Picture 8" descr="macrobo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208" y="5623560"/>
            <a:ext cx="2011680" cy="488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1B1B1F"/>
                </a:solidFill>
                <a:latin typeface="Georgia"/>
              </a:rPr>
              <a:t>Context and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08792" cy="2794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73952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2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1B1F"/>
                </a:solidFill>
                <a:latin typeface="Georgia"/>
              </a:rPr>
              <a:t>Who needs robots to pick up fabric?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700">
                <a:solidFill>
                  <a:srgbClr val="1B1B1F"/>
                </a:solidFill>
                <a:latin typeface="Georgia"/>
              </a:rPr>
              <a:t>•  Garment manufacturing — still largely manual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700">
                <a:solidFill>
                  <a:srgbClr val="1B1B1F"/>
                </a:solidFill>
                <a:latin typeface="Georgia"/>
              </a:rPr>
              <a:t>•  Commercial laundry, hospital bedding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700">
                <a:solidFill>
                  <a:srgbClr val="1B1B1F"/>
                </a:solidFill>
                <a:latin typeface="Georgia"/>
              </a:rPr>
              <a:t>•  Assistive robots — dressing, household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1B1F"/>
                </a:solidFill>
                <a:latin typeface="Georgia"/>
              </a:rPr>
              <a:t>Why it is still unsolved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700">
                <a:solidFill>
                  <a:srgbClr val="1B1B1F"/>
                </a:solidFill>
                <a:latin typeface="Georgia"/>
              </a:rPr>
              <a:t>•  Demos often start with a person handing over the object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700">
                <a:solidFill>
                  <a:srgbClr val="1B1B1F"/>
                </a:solidFill>
                <a:latin typeface="Georgia"/>
              </a:rPr>
              <a:t>•  Picking flat cloth off a table = the skipped hard step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1B1B1F"/>
                </a:solidFill>
                <a:latin typeface="Georgia"/>
              </a:rPr>
              <a:t>Why Flat Cloth Defeats a Standard Gripper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08792" cy="2794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73952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3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000">
                <a:solidFill>
                  <a:srgbClr val="1B1B1F"/>
                </a:solidFill>
                <a:latin typeface="Georgia"/>
              </a:rPr>
              <a:t>•  A flat ply presents no fixed shape to close a gripper around.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000">
                <a:solidFill>
                  <a:srgbClr val="1B1B1F"/>
                </a:solidFill>
                <a:latin typeface="Georgia"/>
              </a:rPr>
              <a:t>•  Near-zero bending stiffness lets the fabric slip out of a misplaced jaw.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000">
                <a:solidFill>
                  <a:srgbClr val="1B1B1F"/>
                </a:solidFill>
                <a:latin typeface="Georgia"/>
              </a:rPr>
              <a:t>•  A rigid jaw has roughly 1 mm of placement margin between missing the cloth and triggering the robot's safety stop.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000">
                <a:solidFill>
                  <a:srgbClr val="1B1B1F"/>
                </a:solidFill>
                <a:latin typeface="Georgia"/>
              </a:rPr>
              <a:t>•  A flexible finger is the proposed fix — but when does flexibility actually help?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1B1B1F"/>
                </a:solidFill>
                <a:latin typeface="Georgia"/>
              </a:rPr>
              <a:t>The Fin-Ray Finger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08792" cy="2794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73952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4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600">
                <a:solidFill>
                  <a:srgbClr val="1B1B1F"/>
                </a:solidFill>
                <a:latin typeface="Georgia"/>
              </a:rPr>
              <a:t>•  A compliant structure inspired by fish-fin anatomy: flexible side walls connected by internal ribs — entirely passive, 3D-printed in a flexible thermoplastic (TPU).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600">
                <a:solidFill>
                  <a:srgbClr val="1B1B1F"/>
                </a:solidFill>
                <a:latin typeface="Georgia"/>
              </a:rPr>
              <a:t>•  When pressed, it bends toward the load and wraps the contact surface — the opposite of a stiff beam.</a:t>
            </a:r>
          </a:p>
        </p:txBody>
      </p:sp>
      <p:pic>
        <p:nvPicPr>
          <p:cNvPr id="7" name="Picture 6" descr="press_d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554" y="2514600"/>
            <a:ext cx="5768411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45920" y="589788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4E545E"/>
                </a:solidFill>
                <a:latin typeface="Georgia"/>
              </a:rPr>
              <a:t>At first contact the blades are straight (left); pressed deeper, they bend toward the load and wrap the ground (right).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1B1B1F"/>
                </a:solidFill>
                <a:latin typeface="Georgia"/>
              </a:rPr>
              <a:t>Prior Approaches: Make the Cloth Graspable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08792" cy="2794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73952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5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700">
                <a:solidFill>
                  <a:srgbClr val="1B1B1F"/>
                </a:solidFill>
                <a:latin typeface="Georgia"/>
              </a:rPr>
              <a:t>•  Wrinkle-directed grasping — detect and rank wrinkles in depth images of crumpled laundry, and send the gripper to the most graspable bump.  (Ramisa et al., ICRA 2012)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700">
                <a:solidFill>
                  <a:srgbClr val="1B1B1F"/>
                </a:solidFill>
                <a:latin typeface="Georgia"/>
              </a:rPr>
              <a:t>•  Edge and corner detection — segment cloth edges and corners, then execute a sliding grasp along the estimated direction.  (Qian et al., IROS 2020)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700">
                <a:solidFill>
                  <a:srgbClr val="1B1B1F"/>
                </a:solidFill>
                <a:latin typeface="Georgia"/>
              </a:rPr>
              <a:t>•  Dynamic state reset — a high-speed fling unfolds a crumpled cloth in a few actions, producing a flatter state before the pick.  (Ha and Song, CoRL 2021)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700">
                <a:solidFill>
                  <a:srgbClr val="1B1B1F"/>
                </a:solidFill>
                <a:latin typeface="Georgia"/>
              </a:rPr>
              <a:t>•  Feature-defined benchmarks — a household clothing set defining graspable textile features (edges, hems), with end-effectors scored on grasping them.  (Clark et al., ICRA 2023)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989320"/>
            <a:ext cx="10908792" cy="127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065520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ED1B2F"/>
                </a:solidFill>
                <a:latin typeface="Georgia"/>
              </a:rPr>
              <a:t>All spend extra actions and sensing to create a feature</a:t>
            </a:r>
            <a:r>
              <a:rPr sz="1600">
                <a:solidFill>
                  <a:srgbClr val="1B1B1F"/>
                </a:solidFill>
                <a:latin typeface="Georgia"/>
              </a:rPr>
              <a:t> — and offer no help when the cloth is already lying flat.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1B1B1F"/>
                </a:solidFill>
                <a:latin typeface="Georgia"/>
              </a:rPr>
              <a:t>Make the Cloth Graspable — in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08792" cy="2794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73952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6 / 19</a:t>
            </a:r>
          </a:p>
        </p:txBody>
      </p:sp>
      <p:pic>
        <p:nvPicPr>
          <p:cNvPr id="6" name="Picture 5" descr="fig_q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3383280" cy="34272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349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4E545E"/>
                </a:solidFill>
                <a:latin typeface="Georgia"/>
              </a:rPr>
              <a:t>Edge/corner segmentation, then a sliding grasp.
Qian et al., IROS 2020.</a:t>
            </a:r>
          </a:p>
        </p:txBody>
      </p:sp>
      <p:pic>
        <p:nvPicPr>
          <p:cNvPr id="8" name="Picture 7" descr="fig_fling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3840480" cy="25150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0" y="53492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4E545E"/>
                </a:solidFill>
                <a:latin typeface="Georgia"/>
              </a:rPr>
              <a:t>A fling resets crumpled cloth to flat.
Ha and Song, CoRL 2021.</a:t>
            </a:r>
          </a:p>
        </p:txBody>
      </p:sp>
      <p:pic>
        <p:nvPicPr>
          <p:cNvPr id="10" name="Picture 9" descr="fig_cl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371600"/>
            <a:ext cx="3657600" cy="25940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83879" y="5349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4E545E"/>
                </a:solidFill>
                <a:latin typeface="Georgia"/>
              </a:rPr>
              <a:t>Feature-defined cloth benchmarks.
Clark et al., ICRA 2023.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1B1B1F"/>
                </a:solidFill>
                <a:latin typeface="Georgia"/>
              </a:rPr>
              <a:t>Specialised End-Effectors: A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08792" cy="2794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73952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7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50">
                <a:solidFill>
                  <a:srgbClr val="1B1B1F"/>
                </a:solidFill>
                <a:latin typeface="Georgia"/>
              </a:rPr>
              <a:t>•  Needle and electrostatic textile grippers — industrial devices from garment manufacturing that pierce or electrostatically hold the top ply.  (Monkman, IJRR 1995)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50">
                <a:solidFill>
                  <a:srgbClr val="1B1B1F"/>
                </a:solidFill>
                <a:latin typeface="Georgia"/>
              </a:rPr>
              <a:t>•  Non-contact airflow handling — a Bernoulli-principle end-effector suspends a single garment ply on a radial air film.  (Ozcelik and Erzincanli, Robotica 2002)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50">
                <a:solidFill>
                  <a:srgbClr val="1B1B1F"/>
                </a:solidFill>
                <a:latin typeface="Georgia"/>
              </a:rPr>
              <a:t>•  Electroadhesion — electrically switchable adhesion; effective on delicate, flexible materials at low energy cost.  (Guo, Leng, and Rossiter, IEEE T-RO 2020)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50">
                <a:solidFill>
                  <a:srgbClr val="1B1B1F"/>
                </a:solidFill>
                <a:latin typeface="Georgia"/>
              </a:rPr>
              <a:t>•  Variable-friction fingertips — switch between high- and low-friction states to slide, pinch, and unfold fabric in-hand.  (Jiang et al., IEEE RA-L 2022)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50">
                <a:solidFill>
                  <a:srgbClr val="1B1B1F"/>
                </a:solidFill>
                <a:latin typeface="Georgia"/>
              </a:rPr>
              <a:t>•  Compliant-hand precedent — the Harvard SDM hand grasps despite positioning errors exceeding 100% of object size; success-range maps over an offset grid, on rigid objects.  (Dollar and Howe, IJRR 2010)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989320"/>
            <a:ext cx="10908792" cy="127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065520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ED1B2F"/>
                </a:solidFill>
                <a:latin typeface="Georgia"/>
              </a:rPr>
              <a:t>Remaining gap:</a:t>
            </a:r>
            <a:r>
              <a:rPr sz="1600">
                <a:solidFill>
                  <a:srgbClr val="1B1B1F"/>
                </a:solidFill>
                <a:latin typeface="Georgia"/>
              </a:rPr>
              <a:t> gripper comparisons on cloth are scored at the task level — still no map of grasp quality versus placement error (depth, tilt) across finger designs.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1B1B1F"/>
                </a:solidFill>
                <a:latin typeface="Georgia"/>
              </a:rPr>
              <a:t>Specialised End-Effectors — and the Remaining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08792" cy="2794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73952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8 / 19</a:t>
            </a:r>
          </a:p>
        </p:txBody>
      </p:sp>
      <p:pic>
        <p:nvPicPr>
          <p:cNvPr id="6" name="Picture 5" descr="fig_rami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37" y="1371600"/>
            <a:ext cx="4723646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212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4E545E"/>
                </a:solidFill>
                <a:latin typeface="Georgia"/>
              </a:rPr>
              <a:t>Wrinkle/collar-directed grasping of deformed clothes.
Ramisa et al., ICRA 2012.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1B1F"/>
                </a:solidFill>
                <a:latin typeface="Georgia"/>
              </a:rPr>
              <a:t>Replace the gripper entirely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7830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50">
                <a:solidFill>
                  <a:srgbClr val="1B1B1F"/>
                </a:solidFill>
                <a:latin typeface="Georgia"/>
              </a:rPr>
              <a:t>•  Needles, electroadhesion, air jets, variable-friction fingertips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50">
                <a:solidFill>
                  <a:srgbClr val="1B1B1F"/>
                </a:solidFill>
                <a:latin typeface="Georgia"/>
              </a:rPr>
              <a:t>•  Cost: single-purpose hardware, fabric damage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1B1F"/>
                </a:solidFill>
                <a:latin typeface="Georgia"/>
              </a:rPr>
              <a:t>What is 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4290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50">
                <a:solidFill>
                  <a:srgbClr val="1B1B1F"/>
                </a:solidFill>
                <a:latin typeface="Georgia"/>
              </a:rPr>
              <a:t>•  Gripper treated as fixed; effort goes to cameras &amp; software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50">
                <a:solidFill>
                  <a:srgbClr val="1B1B1F"/>
                </a:solidFill>
                <a:latin typeface="Georgia"/>
              </a:rPr>
              <a:t>•  Gripper comparisons: task-scored on cloth, or on rigid objects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50">
                <a:solidFill>
                  <a:srgbClr val="1B1B1F"/>
                </a:solidFill>
                <a:latin typeface="Georgia"/>
              </a:rPr>
              <a:t>•  No map of grasp quality vs. placement error across finger designs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989320"/>
            <a:ext cx="10908792" cy="127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065520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ED1B2F"/>
                </a:solidFill>
                <a:latin typeface="Georgia"/>
              </a:rPr>
              <a:t>This work:</a:t>
            </a:r>
            <a:r>
              <a:rPr sz="1600">
                <a:solidFill>
                  <a:srgbClr val="1B1B1F"/>
                </a:solidFill>
                <a:latin typeface="Georgia"/>
              </a:rPr>
              <a:t> keep the robot, the control policy, and the cloth identical — change only the finger, and map the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1B1B1F"/>
                </a:solidFill>
                <a:latin typeface="Georgia"/>
              </a:rPr>
              <a:t>Questions This Work Answers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08792" cy="2794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73952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9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2100">
                <a:solidFill>
                  <a:srgbClr val="1B1B1F"/>
                </a:solidFill>
                <a:latin typeface="Georgia"/>
              </a:rPr>
              <a:t>1.  How does the contact force vary with press depth, for each finger design?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2100">
                <a:solidFill>
                  <a:srgbClr val="1B1B1F"/>
                </a:solidFill>
                <a:latin typeface="Georgia"/>
              </a:rPr>
              <a:t>2.  How much can the gripper be tilted before the grasp becomes unreliable?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2100">
                <a:solidFill>
                  <a:srgbClr val="1B1B1F"/>
                </a:solidFill>
                <a:latin typeface="Georgia"/>
              </a:rPr>
              <a:t>3.  Does tilt tolerance depend on the press depth?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2100">
                <a:solidFill>
                  <a:srgbClr val="1B1B1F"/>
                </a:solidFill>
                <a:latin typeface="Georgia"/>
              </a:rPr>
              <a:t>4.  Is the response to tilt symmetric — is tilting one way the same as tilting the other?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1B1B1F"/>
                </a:solidFill>
                <a:latin typeface="Georgia"/>
              </a:rPr>
              <a:t>Test Platform: Six Fingers, One Robot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08792" cy="2794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73952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10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600">
                <a:solidFill>
                  <a:srgbClr val="1B1B1F"/>
                </a:solidFill>
                <a:latin typeface="Georgia"/>
              </a:rPr>
              <a:t>•  Franka FR3 arm — force sensing via joint motors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600">
                <a:solidFill>
                  <a:srgbClr val="1B1B1F"/>
                </a:solidFill>
                <a:latin typeface="Georgia"/>
              </a:rPr>
              <a:t>•  Rigid: stock metal jaws, ± thin rubber pad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600">
                <a:solidFill>
                  <a:srgbClr val="1B1B1F"/>
                </a:solidFill>
                <a:latin typeface="Georgia"/>
              </a:rPr>
              <a:t>•  Fin-ray: thickness 18 / 26 mm; mount angle 2.5° / 5°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600">
                <a:solidFill>
                  <a:srgbClr val="1B1B1F"/>
                </a:solidFill>
                <a:latin typeface="Georgia"/>
              </a:rPr>
              <a:t>•  + a second print of one finger (print variability)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600">
                <a:solidFill>
                  <a:srgbClr val="1B1B1F"/>
                </a:solidFill>
                <a:latin typeface="Georgia"/>
              </a:rPr>
              <a:t>•  Same routine, cloth, and table for all six</a:t>
            </a:r>
          </a:p>
        </p:txBody>
      </p:sp>
      <p:pic>
        <p:nvPicPr>
          <p:cNvPr id="7" name="Picture 6" descr="fr3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036" y="1280160"/>
            <a:ext cx="6310647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4960" y="5852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4E545E"/>
                </a:solidFill>
                <a:latin typeface="Georgia"/>
              </a:rPr>
              <a:t>Design variables: finger thickness t (side view) and mounting angle α (front view).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1B1B1F"/>
                </a:solidFill>
                <a:latin typeface="Georgia"/>
              </a:rPr>
              <a:t>What We Vary: Press Depth and Tilt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08792" cy="2794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73952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11 / 19</a:t>
            </a:r>
          </a:p>
        </p:txBody>
      </p:sp>
      <p:pic>
        <p:nvPicPr>
          <p:cNvPr id="6" name="Picture 5" descr="theta_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63" y="1371600"/>
            <a:ext cx="2695434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394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4E545E"/>
                </a:solidFill>
                <a:latin typeface="Georgia"/>
              </a:rPr>
              <a:t>Tilt θx: leaning the arm sideways (front view).</a:t>
            </a:r>
          </a:p>
        </p:txBody>
      </p:sp>
      <p:pic>
        <p:nvPicPr>
          <p:cNvPr id="8" name="Picture 7" descr="theta_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729" y="1371600"/>
            <a:ext cx="1883182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83280" y="5394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4E545E"/>
                </a:solidFill>
                <a:latin typeface="Georgia"/>
              </a:rPr>
              <a:t>Tilt θy: leaning along the gripping direction (side view).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600">
                <a:solidFill>
                  <a:srgbClr val="1B1B1F"/>
                </a:solidFill>
                <a:latin typeface="Georgia"/>
              </a:rPr>
              <a:t>•  Depth d — fingertip driven below the surface (surface found by force touch-off, ±0.1 mm)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600">
                <a:solidFill>
                  <a:srgbClr val="1B1B1F"/>
                </a:solidFill>
                <a:latin typeface="Georgia"/>
              </a:rPr>
              <a:t>•  Tilt — arm leaned ±2.5° from perpendicular; 0° = perpendicular to the table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600">
                <a:solidFill>
                  <a:srgbClr val="1B1B1F"/>
                </a:solidFill>
                <a:latin typeface="Georgia"/>
              </a:rPr>
              <a:t>•  Measured — steady contact force F + held / not held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1B1B1F"/>
                </a:solidFill>
                <a:latin typeface="Georgia"/>
              </a:rPr>
              <a:t>Trial Procedure and Data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08792" cy="2794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73952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12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94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B1B1F"/>
                </a:solidFill>
                <a:latin typeface="Georgia"/>
              </a:rPr>
              <a:t>1.  Descend to 5 mm above the surface.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1B1F"/>
                </a:solidFill>
                <a:latin typeface="Georgia"/>
              </a:rPr>
              <a:t>2.  Slow final descent to the target depth.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1B1F"/>
                </a:solidFill>
                <a:latin typeface="Georgia"/>
              </a:rPr>
              <a:t>3.  Close the gripper on the cloth.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1B1F"/>
                </a:solidFill>
                <a:latin typeface="Georgia"/>
              </a:rPr>
              <a:t>4.  Hold still 1 s; record the contact force (30 samples).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B1B1F"/>
                </a:solidFill>
                <a:latin typeface="Georgia"/>
              </a:rPr>
              <a:t>5.  Lift and record whether the cloth is held.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371600"/>
          <a:ext cx="5120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438912">
                <a:tc>
                  <a:txBody>
                    <a:bodyPr/>
                    <a:lstStyle/>
                    <a:p>
                      <a:r>
                        <a:rPr sz="1400">
                          <a:latin typeface="Georgia"/>
                        </a:rPr>
                        <a:t>Data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latin typeface="Georgia"/>
                        </a:rPr>
                        <a:t>Gripper variants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Georgia"/>
                        </a:rPr>
                        <a:t>6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latin typeface="Georgia"/>
                        </a:rPr>
                        <a:t>Curated benchmark trials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Georgia"/>
                        </a:rPr>
                        <a:t>204 (75 sessions)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latin typeface="Georgia"/>
                        </a:rPr>
                        <a:t>Confirmed successful grasps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Georgia"/>
                        </a:rPr>
                        <a:t>139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latin typeface="Georgia"/>
                        </a:rPr>
                        <a:t>Total trials on 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Georgia"/>
                        </a:rPr>
                        <a:t>&gt; 940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379476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E545E"/>
                </a:solidFill>
                <a:latin typeface="Georgia"/>
              </a:rPr>
              <a:t>Tools: Franka FR3 arm, ROS 2, Python, Bambu Lab X1C printer. Experiment design, calibration, data collection, and analysis by the author.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989320"/>
            <a:ext cx="10908792" cy="127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065520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ED1B2F"/>
                </a:solidFill>
                <a:latin typeface="Georgia"/>
              </a:rPr>
              <a:t>Same arm, policy, cloth, surface —</a:t>
            </a:r>
            <a:r>
              <a:rPr sz="1600">
                <a:solidFill>
                  <a:srgbClr val="1B1B1F"/>
                </a:solidFill>
                <a:latin typeface="Georgia"/>
              </a:rPr>
              <a:t> only the finger design changes.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1B1B1F"/>
                </a:solidFill>
                <a:latin typeface="Georgia"/>
              </a:rPr>
              <a:t>Result 1 — Where Grasps Succeed: Depth and Force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08792" cy="2794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73952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13 / 19</a:t>
            </a:r>
          </a:p>
        </p:txBody>
      </p:sp>
      <p:pic>
        <p:nvPicPr>
          <p:cNvPr id="6" name="Picture 5" descr="success_range_depth_vs_fo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10515600" cy="39057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4E545E"/>
                </a:solidFill>
                <a:latin typeface="Georgia"/>
              </a:rPr>
              <a:t>Per variant: (a) depths at which grasps succeed; (b) contact forces measured across those successful grasps.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989320"/>
            <a:ext cx="10908792" cy="127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065520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ED1B2F"/>
                </a:solidFill>
                <a:latin typeface="Georgia"/>
              </a:rPr>
              <a:t>Answer 1:</a:t>
            </a:r>
            <a:r>
              <a:rPr sz="1600">
                <a:solidFill>
                  <a:srgbClr val="1B1B1F"/>
                </a:solidFill>
                <a:latin typeface="Georgia"/>
              </a:rPr>
              <a:t> rigid jaws succeed inside ≈ 1 mm and only at high force; fin-rays succeed across ≥ 12 mm — and from forces as low as ≈ 10 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1B1B1F"/>
                </a:solidFill>
                <a:latin typeface="Georgia"/>
              </a:rPr>
              <a:t>Result 2 — Working Range under Tilt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08792" cy="2794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73952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14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989320"/>
            <a:ext cx="10908792" cy="127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065520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ED1B2F"/>
                </a:solidFill>
                <a:latin typeface="Georgia"/>
              </a:rPr>
              <a:t>Answers 2–4:</a:t>
            </a:r>
            <a:r>
              <a:rPr sz="1600">
                <a:solidFill>
                  <a:srgbClr val="1B1B1F"/>
                </a:solidFill>
                <a:latin typeface="Georgia"/>
              </a:rPr>
              <a:t> press deep enough and tilt sensitivity — including its direction dependence — essentially disappears.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4297680" cy="34266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489204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4E545E"/>
                </a:solidFill>
                <a:latin typeface="Georgia"/>
              </a:rPr>
              <a:t>Fin-rays under ±2.5° tilt: curves separate at shallow depth, converge at depth. Shallow: 5° tilt cuts force 58%; deep: 1%. Sign flip changes force 2.4× at shallow press only.</a:t>
            </a:r>
          </a:p>
        </p:txBody>
      </p:sp>
      <p:pic>
        <p:nvPicPr>
          <p:cNvPr id="13" name="Picture 12" descr="pj_tilt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645920"/>
            <a:ext cx="6583680" cy="2532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20640" y="45262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4E545E"/>
                </a:solidFill>
                <a:latin typeface="Georgia"/>
              </a:rPr>
              <a:t>Rigid jaws under the same tilts: slope unchanged — the ≈1 mm window shifts, it does not widen.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1B1B1F"/>
                </a:solidFill>
                <a:latin typeface="Georgia"/>
              </a:rPr>
              <a:t>Result 3 — One Curve Shape for Every Fin-Ray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08792" cy="2794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73952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15 / 19</a:t>
            </a:r>
          </a:p>
        </p:txBody>
      </p:sp>
      <p:pic>
        <p:nvPicPr>
          <p:cNvPr id="6" name="Picture 5" descr="fr18_fr26_fr26_5deg_al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6583680" cy="38078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8064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4E545E"/>
                </a:solidFill>
                <a:latin typeface="Georgia"/>
              </a:rPr>
              <a:t>All fin-ray variants aligned onto the 26 mm reference.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55448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1B1B1F"/>
                </a:solidFill>
                <a:latin typeface="Georgia"/>
              </a:rPr>
              <a:t>•  Steep rise to a small peak (≈50 N near +2–4 mm) while the straight blades load at their tips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1B1B1F"/>
                </a:solidFill>
                <a:latin typeface="Georgia"/>
              </a:rPr>
              <a:t>•  Then the blades buckle outward — force dips into a shallow valley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1B1B1F"/>
                </a:solidFill>
                <a:latin typeface="Georgia"/>
              </a:rPr>
              <a:t>•  Deeper still, the wrapped blades re-engage and force climbs again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1B1B1F"/>
                </a:solidFill>
                <a:latin typeface="Georgia"/>
              </a:rPr>
              <a:t>•  The same peak–valley–rise shape appears on every fin-ray variant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989320"/>
            <a:ext cx="10908792" cy="127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065520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ED1B2F"/>
                </a:solidFill>
                <a:latin typeface="Georgia"/>
              </a:rPr>
              <a:t>The curve shape is a property of the fin-ray architecture</a:t>
            </a:r>
            <a:r>
              <a:rPr sz="1600">
                <a:solidFill>
                  <a:srgbClr val="1B1B1F"/>
                </a:solidFill>
                <a:latin typeface="Georgia"/>
              </a:rPr>
              <a:t> — thickness, seat angle, and print copy only shift and scale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1B1B1F"/>
                </a:solidFill>
                <a:latin typeface="Georgia"/>
              </a:rPr>
              <a:t>Result 4 — Print-to-Print, the Fin-Rays Are Nearly Identical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08792" cy="2794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73952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16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989320"/>
            <a:ext cx="10908792" cy="127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065520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ED1B2F"/>
                </a:solidFill>
                <a:latin typeface="Georgia"/>
              </a:rPr>
              <a:t>Two prints of the same design behave nearly identically</a:t>
            </a:r>
            <a:r>
              <a:rPr sz="1600">
                <a:solidFill>
                  <a:srgbClr val="1B1B1F"/>
                </a:solidFill>
                <a:latin typeface="Georgia"/>
              </a:rPr>
              <a:t> — manufacturing error does not change any conclusion of this study.</a:t>
            </a:r>
          </a:p>
        </p:txBody>
      </p:sp>
      <p:pic>
        <p:nvPicPr>
          <p:cNvPr id="11" name="Picture 10" descr="fr18_m1_vs_m2_aligne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60"/>
            <a:ext cx="6583680" cy="3566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76072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4E545E"/>
                </a:solidFill>
                <a:latin typeface="Georgia"/>
              </a:rPr>
              <a:t>Depth axes aligned at each model's first successful grasp (zero tilt).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73736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50">
                <a:solidFill>
                  <a:srgbClr val="1B1B1F"/>
                </a:solidFill>
                <a:latin typeface="Georgia"/>
              </a:rPr>
              <a:t>•  Depth axes aligned at each model's first successful grasp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50">
                <a:solidFill>
                  <a:srgbClr val="1B1B1F"/>
                </a:solidFill>
                <a:latin typeface="Georgia"/>
              </a:rPr>
              <a:t>•  Same curve shape; a few newtons apart near the peak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50">
                <a:solidFill>
                  <a:srgbClr val="1B1B1F"/>
                </a:solidFill>
                <a:latin typeface="Georgia"/>
              </a:rPr>
              <a:t>•  Difference comparable to day-to-day sensor drift — small next to the depth effects (Results 1–3)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1B1B1F"/>
                </a:solidFill>
                <a:latin typeface="Georgia"/>
              </a:rPr>
              <a:t>What This Means in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08792" cy="2794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73952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17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2000">
                <a:solidFill>
                  <a:srgbClr val="1B1B1F"/>
                </a:solidFill>
                <a:latin typeface="Georgia"/>
              </a:rPr>
              <a:t>•  A flexible finger buys a tenfold gain in placement tolerance from hardware alone — before any investment in cameras, sensing, or machine learning.</a:t>
            </a:r>
          </a:p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2000">
                <a:solidFill>
                  <a:srgbClr val="1B1B1F"/>
                </a:solidFill>
                <a:latin typeface="Georgia"/>
              </a:rPr>
              <a:t>•  But the benefit is conditional: the finger must be pressed past a threshold depth. Compliance is not a free pass at light contact.</a:t>
            </a:r>
          </a:p>
          <a:p>
            <a:pPr>
              <a:lnSpc>
                <a:spcPct val="118000"/>
              </a:lnSpc>
              <a:spcAft>
                <a:spcPts val="1800"/>
              </a:spcAft>
            </a:pPr>
            <a:r>
              <a:rPr sz="2000">
                <a:solidFill>
                  <a:srgbClr val="1B1B1F"/>
                </a:solidFill>
                <a:latin typeface="Georgia"/>
              </a:rPr>
              <a:t>•  Systems that must touch delicately — near the contact boundary — still need to account for the finger's direction-dependent behaviour.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1B1B1F"/>
                </a:solidFill>
                <a:latin typeface="Georgia"/>
              </a:rPr>
              <a:t>Conclusions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0908792" cy="2794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73952"/>
            <a:ext cx="1216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4E545E"/>
                </a:solidFill>
                <a:latin typeface="Segoe UI"/>
              </a:rPr>
              <a:t>18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1B1F"/>
                </a:solidFill>
                <a:latin typeface="Georgia"/>
              </a:rPr>
              <a:t>Conclusions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600">
                <a:solidFill>
                  <a:srgbClr val="1B1B1F"/>
                </a:solidFill>
                <a:latin typeface="Georgia"/>
              </a:rPr>
              <a:t>•  Benchmark with finger design as the variable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600">
                <a:solidFill>
                  <a:srgbClr val="1B1B1F"/>
                </a:solidFill>
                <a:latin typeface="Georgia"/>
              </a:rPr>
              <a:t>•  ≈ 10× wider depth window at half the force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600">
                <a:solidFill>
                  <a:srgbClr val="1B1B1F"/>
                </a:solidFill>
                <a:latin typeface="Georgia"/>
              </a:rPr>
              <a:t>•  Tilt tolerance is depth-gated — incl. the direction asymmetry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1B1F"/>
                </a:solidFill>
                <a:latin typeface="Georgia"/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600">
                <a:solidFill>
                  <a:srgbClr val="1B1B1F"/>
                </a:solidFill>
                <a:latin typeface="Georgia"/>
              </a:rPr>
              <a:t>•  Task-level tests: fold, place, drag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600">
                <a:solidFill>
                  <a:srgbClr val="1B1B1F"/>
                </a:solidFill>
                <a:latin typeface="Georgia"/>
              </a:rPr>
              <a:t>•  Mechanical model of the depth threshold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600">
                <a:solidFill>
                  <a:srgbClr val="1B1B1F"/>
                </a:solidFill>
                <a:latin typeface="Georgia"/>
              </a:rPr>
              <a:t>•  Independent force-sensor cross-check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cgil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005840"/>
            <a:ext cx="2377440" cy="55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4E545E"/>
                </a:solidFill>
                <a:latin typeface="Segoe UI"/>
              </a:rPr>
              <a:t>Department of Mechanical Engineering · MECH 609 — Masters Seminar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0">
                <a:solidFill>
                  <a:srgbClr val="1B1B1F"/>
                </a:solidFill>
                <a:latin typeface="Georgia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541264" y="3291840"/>
            <a:ext cx="1097280" cy="2794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45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1B1F"/>
                </a:solidFill>
                <a:latin typeface="Georgia"/>
              </a:rPr>
              <a:t>Acknowledgements</a:t>
            </a:r>
          </a:p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1B1B1F"/>
                </a:solidFill>
                <a:latin typeface="Georgia"/>
              </a:rPr>
              <a:t>Prof. Audrey Sedal — supervision · MACRObotics Lab</a:t>
            </a:r>
          </a:p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1B1B1F"/>
                </a:solidFill>
                <a:latin typeface="Georgia"/>
              </a:rPr>
              <a:t>McGill Applied Dynamics Lab — in-house fr3_pose_controller (adl-ros2)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E545E"/>
                </a:solidFill>
                <a:latin typeface="Georgia"/>
              </a:rPr>
              <a:t>Shiyao Ni · MECH 609 Masters Seminar</a:t>
            </a:r>
          </a:p>
        </p:txBody>
      </p:sp>
      <p:pic>
        <p:nvPicPr>
          <p:cNvPr id="7" name="Picture 6" descr="macrobo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208" y="5303520"/>
            <a:ext cx="2011680" cy="488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